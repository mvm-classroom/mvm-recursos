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elegraf Bold" charset="1" panose="00000800000000000000"/>
      <p:regular r:id="rId22"/>
    </p:embeddedFon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  <p:embeddedFont>
      <p:font typeface="Open Sans Bold" charset="1" panose="020B0806030504020204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118" y="349538"/>
            <a:ext cx="17037526" cy="9587924"/>
            <a:chOff x="0" y="0"/>
            <a:chExt cx="4487250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7250" cy="2525215"/>
            </a:xfrm>
            <a:custGeom>
              <a:avLst/>
              <a:gdLst/>
              <a:ahLst/>
              <a:cxnLst/>
              <a:rect r="r" b="b" t="t" l="l"/>
              <a:pathLst>
                <a:path h="2525215" w="4487250">
                  <a:moveTo>
                    <a:pt x="25447" y="0"/>
                  </a:moveTo>
                  <a:lnTo>
                    <a:pt x="4461803" y="0"/>
                  </a:lnTo>
                  <a:cubicBezTo>
                    <a:pt x="4475857" y="0"/>
                    <a:pt x="4487250" y="11393"/>
                    <a:pt x="4487250" y="25447"/>
                  </a:cubicBezTo>
                  <a:lnTo>
                    <a:pt x="4487250" y="2499768"/>
                  </a:lnTo>
                  <a:cubicBezTo>
                    <a:pt x="4487250" y="2513822"/>
                    <a:pt x="4475857" y="2525215"/>
                    <a:pt x="4461803" y="2525215"/>
                  </a:cubicBezTo>
                  <a:lnTo>
                    <a:pt x="25447" y="2525215"/>
                  </a:lnTo>
                  <a:cubicBezTo>
                    <a:pt x="11393" y="2525215"/>
                    <a:pt x="0" y="2513822"/>
                    <a:pt x="0" y="2499768"/>
                  </a:cubicBezTo>
                  <a:lnTo>
                    <a:pt x="0" y="25447"/>
                  </a:lnTo>
                  <a:cubicBezTo>
                    <a:pt x="0" y="11393"/>
                    <a:pt x="11393" y="0"/>
                    <a:pt x="254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7250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7130692"/>
            <a:ext cx="2203737" cy="2127608"/>
          </a:xfrm>
          <a:custGeom>
            <a:avLst/>
            <a:gdLst/>
            <a:ahLst/>
            <a:cxnLst/>
            <a:rect r="r" b="b" t="t" l="l"/>
            <a:pathLst>
              <a:path h="2127608" w="2203737">
                <a:moveTo>
                  <a:pt x="0" y="0"/>
                </a:moveTo>
                <a:lnTo>
                  <a:pt x="2203737" y="0"/>
                </a:lnTo>
                <a:lnTo>
                  <a:pt x="2203737" y="2127608"/>
                </a:lnTo>
                <a:lnTo>
                  <a:pt x="0" y="212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55563" y="7130692"/>
            <a:ext cx="2203737" cy="2127608"/>
          </a:xfrm>
          <a:custGeom>
            <a:avLst/>
            <a:gdLst/>
            <a:ahLst/>
            <a:cxnLst/>
            <a:rect r="r" b="b" t="t" l="l"/>
            <a:pathLst>
              <a:path h="2127608" w="2203737">
                <a:moveTo>
                  <a:pt x="0" y="0"/>
                </a:moveTo>
                <a:lnTo>
                  <a:pt x="2203737" y="0"/>
                </a:lnTo>
                <a:lnTo>
                  <a:pt x="2203737" y="2127608"/>
                </a:lnTo>
                <a:lnTo>
                  <a:pt x="0" y="212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54412" y="3533093"/>
            <a:ext cx="12179177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 spc="-33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Mantenimiento de un SGBD con PostgreSQL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55504" y="962025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Santino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58373" y="962025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Abdullah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33588" y="962025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Lucas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8127" y="962025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Carlos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0108" y="962025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Emmanuel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8271" y="962025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David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4795861"/>
            <a:ext cx="16648096" cy="4660838"/>
            <a:chOff x="0" y="0"/>
            <a:chExt cx="4384684" cy="12275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4684" cy="1227546"/>
            </a:xfrm>
            <a:custGeom>
              <a:avLst/>
              <a:gdLst/>
              <a:ahLst/>
              <a:cxnLst/>
              <a:rect r="r" b="b" t="t" l="l"/>
              <a:pathLst>
                <a:path h="1227546" w="4384684">
                  <a:moveTo>
                    <a:pt x="26042" y="0"/>
                  </a:moveTo>
                  <a:lnTo>
                    <a:pt x="4358642" y="0"/>
                  </a:lnTo>
                  <a:cubicBezTo>
                    <a:pt x="4365548" y="0"/>
                    <a:pt x="4372172" y="2744"/>
                    <a:pt x="4377056" y="7627"/>
                  </a:cubicBezTo>
                  <a:cubicBezTo>
                    <a:pt x="4381940" y="12511"/>
                    <a:pt x="4384684" y="19135"/>
                    <a:pt x="4384684" y="26042"/>
                  </a:cubicBezTo>
                  <a:lnTo>
                    <a:pt x="4384684" y="1201504"/>
                  </a:lnTo>
                  <a:cubicBezTo>
                    <a:pt x="4384684" y="1208411"/>
                    <a:pt x="4381940" y="1215034"/>
                    <a:pt x="4377056" y="1219918"/>
                  </a:cubicBezTo>
                  <a:cubicBezTo>
                    <a:pt x="4372172" y="1224802"/>
                    <a:pt x="4365548" y="1227546"/>
                    <a:pt x="4358642" y="1227546"/>
                  </a:cubicBezTo>
                  <a:lnTo>
                    <a:pt x="26042" y="1227546"/>
                  </a:lnTo>
                  <a:cubicBezTo>
                    <a:pt x="19135" y="1227546"/>
                    <a:pt x="12511" y="1224802"/>
                    <a:pt x="7627" y="1219918"/>
                  </a:cubicBezTo>
                  <a:cubicBezTo>
                    <a:pt x="2744" y="1215034"/>
                    <a:pt x="0" y="1208411"/>
                    <a:pt x="0" y="1201504"/>
                  </a:cubicBezTo>
                  <a:lnTo>
                    <a:pt x="0" y="26042"/>
                  </a:lnTo>
                  <a:cubicBezTo>
                    <a:pt x="0" y="19135"/>
                    <a:pt x="2744" y="12511"/>
                    <a:pt x="7627" y="7627"/>
                  </a:cubicBezTo>
                  <a:cubicBezTo>
                    <a:pt x="12511" y="2744"/>
                    <a:pt x="19135" y="0"/>
                    <a:pt x="260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84684" cy="126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1360" y="1796578"/>
            <a:ext cx="16648096" cy="2555903"/>
            <a:chOff x="0" y="0"/>
            <a:chExt cx="4384684" cy="673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4684" cy="673160"/>
            </a:xfrm>
            <a:custGeom>
              <a:avLst/>
              <a:gdLst/>
              <a:ahLst/>
              <a:cxnLst/>
              <a:rect r="r" b="b" t="t" l="l"/>
              <a:pathLst>
                <a:path h="673160" w="4384684">
                  <a:moveTo>
                    <a:pt x="26042" y="0"/>
                  </a:moveTo>
                  <a:lnTo>
                    <a:pt x="4358642" y="0"/>
                  </a:lnTo>
                  <a:cubicBezTo>
                    <a:pt x="4365548" y="0"/>
                    <a:pt x="4372172" y="2744"/>
                    <a:pt x="4377056" y="7627"/>
                  </a:cubicBezTo>
                  <a:cubicBezTo>
                    <a:pt x="4381940" y="12511"/>
                    <a:pt x="4384684" y="19135"/>
                    <a:pt x="4384684" y="26042"/>
                  </a:cubicBezTo>
                  <a:lnTo>
                    <a:pt x="4384684" y="647118"/>
                  </a:lnTo>
                  <a:cubicBezTo>
                    <a:pt x="4384684" y="654024"/>
                    <a:pt x="4381940" y="660648"/>
                    <a:pt x="4377056" y="665532"/>
                  </a:cubicBezTo>
                  <a:cubicBezTo>
                    <a:pt x="4372172" y="670416"/>
                    <a:pt x="4365548" y="673160"/>
                    <a:pt x="4358642" y="673160"/>
                  </a:cubicBezTo>
                  <a:lnTo>
                    <a:pt x="26042" y="673160"/>
                  </a:lnTo>
                  <a:cubicBezTo>
                    <a:pt x="19135" y="673160"/>
                    <a:pt x="12511" y="670416"/>
                    <a:pt x="7627" y="665532"/>
                  </a:cubicBezTo>
                  <a:cubicBezTo>
                    <a:pt x="2744" y="660648"/>
                    <a:pt x="0" y="654024"/>
                    <a:pt x="0" y="647118"/>
                  </a:cubicBezTo>
                  <a:lnTo>
                    <a:pt x="0" y="26042"/>
                  </a:lnTo>
                  <a:cubicBezTo>
                    <a:pt x="0" y="19135"/>
                    <a:pt x="2744" y="12511"/>
                    <a:pt x="7627" y="7627"/>
                  </a:cubicBezTo>
                  <a:cubicBezTo>
                    <a:pt x="12511" y="2744"/>
                    <a:pt x="19135" y="0"/>
                    <a:pt x="260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4684" cy="711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03986" y="2522049"/>
            <a:ext cx="16648096" cy="11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7599" spc="-34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Objetivo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9633" y="5530910"/>
            <a:ext cx="5075120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🔎 Rendimiento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9733" y="7611040"/>
            <a:ext cx="3574919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⚡ Índices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60320" y="5530910"/>
            <a:ext cx="7218263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🗂️ Organización física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73640" y="7611040"/>
            <a:ext cx="6391622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💾 Espacio en disco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390" y="1644380"/>
            <a:ext cx="8683368" cy="7906925"/>
            <a:chOff x="0" y="0"/>
            <a:chExt cx="2286978" cy="208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978" cy="2082482"/>
            </a:xfrm>
            <a:custGeom>
              <a:avLst/>
              <a:gdLst/>
              <a:ahLst/>
              <a:cxnLst/>
              <a:rect r="r" b="b" t="t" l="l"/>
              <a:pathLst>
                <a:path h="2082482" w="2286978">
                  <a:moveTo>
                    <a:pt x="49928" y="0"/>
                  </a:moveTo>
                  <a:lnTo>
                    <a:pt x="2237049" y="0"/>
                  </a:lnTo>
                  <a:cubicBezTo>
                    <a:pt x="2250291" y="0"/>
                    <a:pt x="2262991" y="5260"/>
                    <a:pt x="2272354" y="14624"/>
                  </a:cubicBezTo>
                  <a:cubicBezTo>
                    <a:pt x="2281717" y="23987"/>
                    <a:pt x="2286978" y="36687"/>
                    <a:pt x="2286978" y="49928"/>
                  </a:cubicBezTo>
                  <a:lnTo>
                    <a:pt x="2286978" y="2032554"/>
                  </a:lnTo>
                  <a:cubicBezTo>
                    <a:pt x="2286978" y="2060129"/>
                    <a:pt x="2264624" y="2082482"/>
                    <a:pt x="2237049" y="2082482"/>
                  </a:cubicBezTo>
                  <a:lnTo>
                    <a:pt x="49928" y="2082482"/>
                  </a:lnTo>
                  <a:cubicBezTo>
                    <a:pt x="36687" y="2082482"/>
                    <a:pt x="23987" y="2077222"/>
                    <a:pt x="14624" y="2067859"/>
                  </a:cubicBezTo>
                  <a:cubicBezTo>
                    <a:pt x="5260" y="2058495"/>
                    <a:pt x="0" y="2045796"/>
                    <a:pt x="0" y="2032554"/>
                  </a:cubicBezTo>
                  <a:lnTo>
                    <a:pt x="0" y="49928"/>
                  </a:lnTo>
                  <a:cubicBezTo>
                    <a:pt x="0" y="36687"/>
                    <a:pt x="5260" y="23987"/>
                    <a:pt x="14624" y="14624"/>
                  </a:cubicBezTo>
                  <a:cubicBezTo>
                    <a:pt x="23987" y="5260"/>
                    <a:pt x="36687" y="0"/>
                    <a:pt x="499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86978" cy="2149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0760" y="7421649"/>
            <a:ext cx="7910221" cy="1591932"/>
          </a:xfrm>
          <a:custGeom>
            <a:avLst/>
            <a:gdLst/>
            <a:ahLst/>
            <a:cxnLst/>
            <a:rect r="r" b="b" t="t" l="l"/>
            <a:pathLst>
              <a:path h="1591932" w="7910221">
                <a:moveTo>
                  <a:pt x="0" y="0"/>
                </a:moveTo>
                <a:lnTo>
                  <a:pt x="7910221" y="0"/>
                </a:lnTo>
                <a:lnTo>
                  <a:pt x="7910221" y="1591932"/>
                </a:lnTo>
                <a:lnTo>
                  <a:pt x="0" y="1591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25103" y="1644380"/>
            <a:ext cx="8683368" cy="7906925"/>
            <a:chOff x="0" y="0"/>
            <a:chExt cx="2286978" cy="20824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978" cy="2082482"/>
            </a:xfrm>
            <a:custGeom>
              <a:avLst/>
              <a:gdLst/>
              <a:ahLst/>
              <a:cxnLst/>
              <a:rect r="r" b="b" t="t" l="l"/>
              <a:pathLst>
                <a:path h="2082482" w="2286978">
                  <a:moveTo>
                    <a:pt x="49928" y="0"/>
                  </a:moveTo>
                  <a:lnTo>
                    <a:pt x="2237049" y="0"/>
                  </a:lnTo>
                  <a:cubicBezTo>
                    <a:pt x="2250291" y="0"/>
                    <a:pt x="2262991" y="5260"/>
                    <a:pt x="2272354" y="14624"/>
                  </a:cubicBezTo>
                  <a:cubicBezTo>
                    <a:pt x="2281717" y="23987"/>
                    <a:pt x="2286978" y="36687"/>
                    <a:pt x="2286978" y="49928"/>
                  </a:cubicBezTo>
                  <a:lnTo>
                    <a:pt x="2286978" y="2032554"/>
                  </a:lnTo>
                  <a:cubicBezTo>
                    <a:pt x="2286978" y="2060129"/>
                    <a:pt x="2264624" y="2082482"/>
                    <a:pt x="2237049" y="2082482"/>
                  </a:cubicBezTo>
                  <a:lnTo>
                    <a:pt x="49928" y="2082482"/>
                  </a:lnTo>
                  <a:cubicBezTo>
                    <a:pt x="36687" y="2082482"/>
                    <a:pt x="23987" y="2077222"/>
                    <a:pt x="14624" y="2067859"/>
                  </a:cubicBezTo>
                  <a:cubicBezTo>
                    <a:pt x="5260" y="2058495"/>
                    <a:pt x="0" y="2045796"/>
                    <a:pt x="0" y="2032554"/>
                  </a:cubicBezTo>
                  <a:lnTo>
                    <a:pt x="0" y="49928"/>
                  </a:lnTo>
                  <a:cubicBezTo>
                    <a:pt x="0" y="36687"/>
                    <a:pt x="5260" y="23987"/>
                    <a:pt x="14624" y="14624"/>
                  </a:cubicBezTo>
                  <a:cubicBezTo>
                    <a:pt x="23987" y="5260"/>
                    <a:pt x="36687" y="0"/>
                    <a:pt x="499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286978" cy="2149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797403" y="7526380"/>
            <a:ext cx="8014315" cy="1382469"/>
          </a:xfrm>
          <a:custGeom>
            <a:avLst/>
            <a:gdLst/>
            <a:ahLst/>
            <a:cxnLst/>
            <a:rect r="r" b="b" t="t" l="l"/>
            <a:pathLst>
              <a:path h="1382469" w="8014315">
                <a:moveTo>
                  <a:pt x="0" y="0"/>
                </a:moveTo>
                <a:lnTo>
                  <a:pt x="8014315" y="0"/>
                </a:lnTo>
                <a:lnTo>
                  <a:pt x="8014315" y="1382469"/>
                </a:lnTo>
                <a:lnTo>
                  <a:pt x="0" y="1382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48165" y="4363267"/>
            <a:ext cx="7112791" cy="2276007"/>
          </a:xfrm>
          <a:custGeom>
            <a:avLst/>
            <a:gdLst/>
            <a:ahLst/>
            <a:cxnLst/>
            <a:rect r="r" b="b" t="t" l="l"/>
            <a:pathLst>
              <a:path h="2276007" w="7112791">
                <a:moveTo>
                  <a:pt x="0" y="0"/>
                </a:moveTo>
                <a:lnTo>
                  <a:pt x="7112791" y="0"/>
                </a:lnTo>
                <a:lnTo>
                  <a:pt x="7112791" y="2276006"/>
                </a:lnTo>
                <a:lnTo>
                  <a:pt x="0" y="2276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5" t="0" r="-31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34579" y="2189711"/>
            <a:ext cx="4434991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⚙️ Instalación del servicio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26209" y="326120"/>
            <a:ext cx="13035582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spc="-27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Servidor : Instalación  y configuración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8442" y="3925134"/>
            <a:ext cx="7434858" cy="80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6066" indent="-243033" lvl="1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sudo apt update</a:t>
            </a:r>
          </a:p>
          <a:p>
            <a:pPr algn="ctr" marL="486066" indent="-243033" lvl="1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sudo apt install postgresql postgresql-contrib -y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8442" y="6229733"/>
            <a:ext cx="7434858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6066" indent="-243033" lvl="1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sudo systemctl status postgresql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29355" y="2189711"/>
            <a:ext cx="547486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🗄️ Creación de la base de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50127" y="3313128"/>
            <a:ext cx="403332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6066" indent="-243033" lvl="1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DATABASE world;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12060" y="6844719"/>
            <a:ext cx="403332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6066" indent="-243033" lvl="1">
              <a:lnSpc>
                <a:spcPts val="3151"/>
              </a:lnSpc>
              <a:spcBef>
                <a:spcPct val="0"/>
              </a:spcBef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\l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200" y="1825399"/>
            <a:ext cx="8290800" cy="7878719"/>
            <a:chOff x="0" y="0"/>
            <a:chExt cx="2183585" cy="20750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3585" cy="2075054"/>
            </a:xfrm>
            <a:custGeom>
              <a:avLst/>
              <a:gdLst/>
              <a:ahLst/>
              <a:cxnLst/>
              <a:rect r="r" b="b" t="t" l="l"/>
              <a:pathLst>
                <a:path h="2075054" w="2183585">
                  <a:moveTo>
                    <a:pt x="52293" y="0"/>
                  </a:moveTo>
                  <a:lnTo>
                    <a:pt x="2131293" y="0"/>
                  </a:lnTo>
                  <a:cubicBezTo>
                    <a:pt x="2160173" y="0"/>
                    <a:pt x="2183585" y="23412"/>
                    <a:pt x="2183585" y="52293"/>
                  </a:cubicBezTo>
                  <a:lnTo>
                    <a:pt x="2183585" y="2022761"/>
                  </a:lnTo>
                  <a:cubicBezTo>
                    <a:pt x="2183585" y="2036630"/>
                    <a:pt x="2178076" y="2049931"/>
                    <a:pt x="2168269" y="2059737"/>
                  </a:cubicBezTo>
                  <a:cubicBezTo>
                    <a:pt x="2158462" y="2069544"/>
                    <a:pt x="2145161" y="2075054"/>
                    <a:pt x="2131293" y="2075054"/>
                  </a:cubicBezTo>
                  <a:lnTo>
                    <a:pt x="52293" y="2075054"/>
                  </a:lnTo>
                  <a:cubicBezTo>
                    <a:pt x="23412" y="2075054"/>
                    <a:pt x="0" y="2051641"/>
                    <a:pt x="0" y="2022761"/>
                  </a:cubicBezTo>
                  <a:lnTo>
                    <a:pt x="0" y="52293"/>
                  </a:lnTo>
                  <a:cubicBezTo>
                    <a:pt x="0" y="23412"/>
                    <a:pt x="23412" y="0"/>
                    <a:pt x="52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83585" cy="2141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44517" y="1825399"/>
            <a:ext cx="8166871" cy="7878719"/>
            <a:chOff x="0" y="0"/>
            <a:chExt cx="2150945" cy="20750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0945" cy="2075054"/>
            </a:xfrm>
            <a:custGeom>
              <a:avLst/>
              <a:gdLst/>
              <a:ahLst/>
              <a:cxnLst/>
              <a:rect r="r" b="b" t="t" l="l"/>
              <a:pathLst>
                <a:path h="2075054" w="2150945">
                  <a:moveTo>
                    <a:pt x="53086" y="0"/>
                  </a:moveTo>
                  <a:lnTo>
                    <a:pt x="2097859" y="0"/>
                  </a:lnTo>
                  <a:cubicBezTo>
                    <a:pt x="2127178" y="0"/>
                    <a:pt x="2150945" y="23767"/>
                    <a:pt x="2150945" y="53086"/>
                  </a:cubicBezTo>
                  <a:lnTo>
                    <a:pt x="2150945" y="2021967"/>
                  </a:lnTo>
                  <a:cubicBezTo>
                    <a:pt x="2150945" y="2051286"/>
                    <a:pt x="2127178" y="2075054"/>
                    <a:pt x="2097859" y="2075054"/>
                  </a:cubicBezTo>
                  <a:lnTo>
                    <a:pt x="53086" y="2075054"/>
                  </a:lnTo>
                  <a:cubicBezTo>
                    <a:pt x="23767" y="2075054"/>
                    <a:pt x="0" y="2051286"/>
                    <a:pt x="0" y="2021967"/>
                  </a:cubicBezTo>
                  <a:lnTo>
                    <a:pt x="0" y="53086"/>
                  </a:lnTo>
                  <a:cubicBezTo>
                    <a:pt x="0" y="23767"/>
                    <a:pt x="23767" y="0"/>
                    <a:pt x="530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50945" cy="2141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757223" y="4265918"/>
            <a:ext cx="7595482" cy="651136"/>
          </a:xfrm>
          <a:custGeom>
            <a:avLst/>
            <a:gdLst/>
            <a:ahLst/>
            <a:cxnLst/>
            <a:rect r="r" b="b" t="t" l="l"/>
            <a:pathLst>
              <a:path h="651136" w="7595482">
                <a:moveTo>
                  <a:pt x="0" y="0"/>
                </a:moveTo>
                <a:lnTo>
                  <a:pt x="7595482" y="0"/>
                </a:lnTo>
                <a:lnTo>
                  <a:pt x="7595482" y="651136"/>
                </a:lnTo>
                <a:lnTo>
                  <a:pt x="0" y="65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09" r="0" b="-170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50628" y="6610981"/>
            <a:ext cx="7408672" cy="2237645"/>
          </a:xfrm>
          <a:custGeom>
            <a:avLst/>
            <a:gdLst/>
            <a:ahLst/>
            <a:cxnLst/>
            <a:rect r="r" b="b" t="t" l="l"/>
            <a:pathLst>
              <a:path h="2237645" w="7408672">
                <a:moveTo>
                  <a:pt x="0" y="0"/>
                </a:moveTo>
                <a:lnTo>
                  <a:pt x="7408672" y="0"/>
                </a:lnTo>
                <a:lnTo>
                  <a:pt x="7408672" y="2237644"/>
                </a:lnTo>
                <a:lnTo>
                  <a:pt x="0" y="2237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6734" y="5469378"/>
            <a:ext cx="7765718" cy="1141603"/>
          </a:xfrm>
          <a:custGeom>
            <a:avLst/>
            <a:gdLst/>
            <a:ahLst/>
            <a:cxnLst/>
            <a:rect r="r" b="b" t="t" l="l"/>
            <a:pathLst>
              <a:path h="1141603" w="7765718">
                <a:moveTo>
                  <a:pt x="0" y="0"/>
                </a:moveTo>
                <a:lnTo>
                  <a:pt x="7765718" y="0"/>
                </a:lnTo>
                <a:lnTo>
                  <a:pt x="7765718" y="1141603"/>
                </a:lnTo>
                <a:lnTo>
                  <a:pt x="0" y="1141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65496" y="7261526"/>
            <a:ext cx="2140046" cy="2140046"/>
          </a:xfrm>
          <a:custGeom>
            <a:avLst/>
            <a:gdLst/>
            <a:ahLst/>
            <a:cxnLst/>
            <a:rect r="r" b="b" t="t" l="l"/>
            <a:pathLst>
              <a:path h="2140046" w="2140046">
                <a:moveTo>
                  <a:pt x="0" y="0"/>
                </a:moveTo>
                <a:lnTo>
                  <a:pt x="2140047" y="0"/>
                </a:lnTo>
                <a:lnTo>
                  <a:pt x="2140047" y="2140047"/>
                </a:lnTo>
                <a:lnTo>
                  <a:pt x="0" y="214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42644" y="7197985"/>
            <a:ext cx="1770883" cy="2203587"/>
          </a:xfrm>
          <a:custGeom>
            <a:avLst/>
            <a:gdLst/>
            <a:ahLst/>
            <a:cxnLst/>
            <a:rect r="r" b="b" t="t" l="l"/>
            <a:pathLst>
              <a:path h="2203587" w="1770883">
                <a:moveTo>
                  <a:pt x="0" y="0"/>
                </a:moveTo>
                <a:lnTo>
                  <a:pt x="1770883" y="0"/>
                </a:lnTo>
                <a:lnTo>
                  <a:pt x="1770883" y="2203588"/>
                </a:lnTo>
                <a:lnTo>
                  <a:pt x="0" y="2203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49661" y="2223124"/>
            <a:ext cx="3497878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Creación del usuario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847887" y="383314"/>
            <a:ext cx="10592227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spc="-27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Usuario y conexiones remotas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5340" y="3483599"/>
            <a:ext cx="7847112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USER grupob WITH PASSWORD 'pirineus';</a:t>
            </a:r>
          </a:p>
          <a:p>
            <a:pPr algn="ctr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RANT ALL PRIVILEGES ON DATABASE world TO grupob;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44517" y="2223124"/>
            <a:ext cx="81668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🔌 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Habilitar conexiones remotas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73347" y="3316276"/>
            <a:ext cx="43092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listen_addresses = '*'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71123" y="5657211"/>
            <a:ext cx="45136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host    all     all     0.0.0.0/0     md5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3200" y="9637443"/>
            <a:ext cx="829080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3200" y="9637443"/>
            <a:ext cx="829080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620320" y="2219524"/>
            <a:ext cx="515200" cy="515200"/>
          </a:xfrm>
          <a:custGeom>
            <a:avLst/>
            <a:gdLst/>
            <a:ahLst/>
            <a:cxnLst/>
            <a:rect r="r" b="b" t="t" l="l"/>
            <a:pathLst>
              <a:path h="515200" w="515200">
                <a:moveTo>
                  <a:pt x="0" y="0"/>
                </a:moveTo>
                <a:lnTo>
                  <a:pt x="515200" y="0"/>
                </a:lnTo>
                <a:lnTo>
                  <a:pt x="515200" y="515199"/>
                </a:lnTo>
                <a:lnTo>
                  <a:pt x="0" y="515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747" y="1680409"/>
            <a:ext cx="8247696" cy="8343299"/>
            <a:chOff x="0" y="0"/>
            <a:chExt cx="2172233" cy="2197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2233" cy="2197412"/>
            </a:xfrm>
            <a:custGeom>
              <a:avLst/>
              <a:gdLst/>
              <a:ahLst/>
              <a:cxnLst/>
              <a:rect r="r" b="b" t="t" l="l"/>
              <a:pathLst>
                <a:path h="2197412" w="2172233">
                  <a:moveTo>
                    <a:pt x="52566" y="0"/>
                  </a:moveTo>
                  <a:lnTo>
                    <a:pt x="2119667" y="0"/>
                  </a:lnTo>
                  <a:cubicBezTo>
                    <a:pt x="2133608" y="0"/>
                    <a:pt x="2146978" y="5538"/>
                    <a:pt x="2156837" y="15396"/>
                  </a:cubicBezTo>
                  <a:cubicBezTo>
                    <a:pt x="2166694" y="25254"/>
                    <a:pt x="2172233" y="38625"/>
                    <a:pt x="2172233" y="52566"/>
                  </a:cubicBezTo>
                  <a:lnTo>
                    <a:pt x="2172233" y="2144846"/>
                  </a:lnTo>
                  <a:cubicBezTo>
                    <a:pt x="2172233" y="2158787"/>
                    <a:pt x="2166694" y="2172158"/>
                    <a:pt x="2156837" y="2182016"/>
                  </a:cubicBezTo>
                  <a:cubicBezTo>
                    <a:pt x="2146978" y="2191874"/>
                    <a:pt x="2133608" y="2197412"/>
                    <a:pt x="2119667" y="2197412"/>
                  </a:cubicBezTo>
                  <a:lnTo>
                    <a:pt x="52566" y="2197412"/>
                  </a:lnTo>
                  <a:cubicBezTo>
                    <a:pt x="38625" y="2197412"/>
                    <a:pt x="25254" y="2191874"/>
                    <a:pt x="15396" y="2182016"/>
                  </a:cubicBezTo>
                  <a:cubicBezTo>
                    <a:pt x="5538" y="2172158"/>
                    <a:pt x="0" y="2158787"/>
                    <a:pt x="0" y="2144846"/>
                  </a:cubicBezTo>
                  <a:lnTo>
                    <a:pt x="0" y="52566"/>
                  </a:lnTo>
                  <a:cubicBezTo>
                    <a:pt x="0" y="38625"/>
                    <a:pt x="5538" y="25254"/>
                    <a:pt x="15396" y="15396"/>
                  </a:cubicBezTo>
                  <a:cubicBezTo>
                    <a:pt x="25254" y="5538"/>
                    <a:pt x="38625" y="0"/>
                    <a:pt x="525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9000"/>
                  </a:srgbClr>
                </a:gs>
                <a:gs pos="100000">
                  <a:srgbClr val="DDDDDD">
                    <a:alpha val="1501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72233" cy="2264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83176" y="1680409"/>
            <a:ext cx="7466979" cy="8343299"/>
            <a:chOff x="0" y="0"/>
            <a:chExt cx="1966612" cy="2197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6612" cy="2197412"/>
            </a:xfrm>
            <a:custGeom>
              <a:avLst/>
              <a:gdLst/>
              <a:ahLst/>
              <a:cxnLst/>
              <a:rect r="r" b="b" t="t" l="l"/>
              <a:pathLst>
                <a:path h="2197412" w="1966612">
                  <a:moveTo>
                    <a:pt x="58062" y="0"/>
                  </a:moveTo>
                  <a:lnTo>
                    <a:pt x="1908550" y="0"/>
                  </a:lnTo>
                  <a:cubicBezTo>
                    <a:pt x="1940617" y="0"/>
                    <a:pt x="1966612" y="25995"/>
                    <a:pt x="1966612" y="58062"/>
                  </a:cubicBezTo>
                  <a:lnTo>
                    <a:pt x="1966612" y="2139350"/>
                  </a:lnTo>
                  <a:cubicBezTo>
                    <a:pt x="1966612" y="2171417"/>
                    <a:pt x="1940617" y="2197412"/>
                    <a:pt x="1908550" y="2197412"/>
                  </a:cubicBezTo>
                  <a:lnTo>
                    <a:pt x="58062" y="2197412"/>
                  </a:lnTo>
                  <a:cubicBezTo>
                    <a:pt x="25995" y="2197412"/>
                    <a:pt x="0" y="2171417"/>
                    <a:pt x="0" y="2139350"/>
                  </a:cubicBezTo>
                  <a:lnTo>
                    <a:pt x="0" y="58062"/>
                  </a:lnTo>
                  <a:cubicBezTo>
                    <a:pt x="0" y="25995"/>
                    <a:pt x="25995" y="0"/>
                    <a:pt x="580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9000"/>
                  </a:srgbClr>
                </a:gs>
                <a:gs pos="100000">
                  <a:srgbClr val="DDDDDD">
                    <a:alpha val="1501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66612" cy="2264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518" y="4879541"/>
            <a:ext cx="5942154" cy="4673700"/>
          </a:xfrm>
          <a:custGeom>
            <a:avLst/>
            <a:gdLst/>
            <a:ahLst/>
            <a:cxnLst/>
            <a:rect r="r" b="b" t="t" l="l"/>
            <a:pathLst>
              <a:path h="4673700" w="5942154">
                <a:moveTo>
                  <a:pt x="0" y="0"/>
                </a:moveTo>
                <a:lnTo>
                  <a:pt x="5942153" y="0"/>
                </a:lnTo>
                <a:lnTo>
                  <a:pt x="5942153" y="4673700"/>
                </a:lnTo>
                <a:lnTo>
                  <a:pt x="0" y="4673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04532" y="4653985"/>
            <a:ext cx="6424268" cy="2273683"/>
          </a:xfrm>
          <a:custGeom>
            <a:avLst/>
            <a:gdLst/>
            <a:ahLst/>
            <a:cxnLst/>
            <a:rect r="r" b="b" t="t" l="l"/>
            <a:pathLst>
              <a:path h="2273683" w="6424268">
                <a:moveTo>
                  <a:pt x="0" y="0"/>
                </a:moveTo>
                <a:lnTo>
                  <a:pt x="6424267" y="0"/>
                </a:lnTo>
                <a:lnTo>
                  <a:pt x="6424267" y="2273683"/>
                </a:lnTo>
                <a:lnTo>
                  <a:pt x="0" y="2273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35768" y="7107778"/>
            <a:ext cx="3561796" cy="2793465"/>
          </a:xfrm>
          <a:custGeom>
            <a:avLst/>
            <a:gdLst/>
            <a:ahLst/>
            <a:cxnLst/>
            <a:rect r="r" b="b" t="t" l="l"/>
            <a:pathLst>
              <a:path h="2793465" w="3561796">
                <a:moveTo>
                  <a:pt x="0" y="0"/>
                </a:moveTo>
                <a:lnTo>
                  <a:pt x="3561795" y="0"/>
                </a:lnTo>
                <a:lnTo>
                  <a:pt x="3561795" y="2793465"/>
                </a:lnTo>
                <a:lnTo>
                  <a:pt x="0" y="279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88940" y="194509"/>
            <a:ext cx="1191012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Cliente: conexión y restauración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19478" y="1924682"/>
            <a:ext cx="3355628" cy="156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🔌 Con</a:t>
            </a:r>
            <a:r>
              <a:rPr lang="en-US" b="true" sz="225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exión al servidor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062899" y="1896107"/>
            <a:ext cx="524729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📂 Restauración del backup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82975" y="2469716"/>
            <a:ext cx="4028634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Host: IP del servido</a:t>
            </a: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</a:p>
          <a:p>
            <a:pPr algn="ctr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Puerto: 5432</a:t>
            </a:r>
          </a:p>
          <a:p>
            <a:pPr algn="ctr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de datos: postgres</a:t>
            </a:r>
          </a:p>
          <a:p>
            <a:pPr algn="ctr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Usuario: alumno</a:t>
            </a:r>
          </a:p>
          <a:p>
            <a:pPr algn="ctr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Contraseña: 1234</a:t>
            </a:r>
          </a:p>
          <a:p>
            <a:pPr algn="ctr">
              <a:lnSpc>
                <a:spcPts val="314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759663" y="2479241"/>
            <a:ext cx="3858220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base de datos</a:t>
            </a:r>
          </a:p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lick derecho → Restore</a:t>
            </a:r>
          </a:p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ormat: Custom/Tar</a:t>
            </a:r>
          </a:p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ile: dades.backup</a:t>
            </a:r>
          </a:p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ole name: alumno</a:t>
            </a:r>
          </a:p>
          <a:p>
            <a:pPr algn="ctr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5605" y="107157"/>
            <a:ext cx="17172206" cy="10073122"/>
            <a:chOff x="0" y="0"/>
            <a:chExt cx="4522721" cy="2653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2721" cy="2653003"/>
            </a:xfrm>
            <a:custGeom>
              <a:avLst/>
              <a:gdLst/>
              <a:ahLst/>
              <a:cxnLst/>
              <a:rect r="r" b="b" t="t" l="l"/>
              <a:pathLst>
                <a:path h="2653003" w="4522721">
                  <a:moveTo>
                    <a:pt x="25247" y="0"/>
                  </a:moveTo>
                  <a:lnTo>
                    <a:pt x="4497474" y="0"/>
                  </a:lnTo>
                  <a:cubicBezTo>
                    <a:pt x="4504170" y="0"/>
                    <a:pt x="4510591" y="2660"/>
                    <a:pt x="4515326" y="7395"/>
                  </a:cubicBezTo>
                  <a:cubicBezTo>
                    <a:pt x="4520061" y="12129"/>
                    <a:pt x="4522721" y="18551"/>
                    <a:pt x="4522721" y="25247"/>
                  </a:cubicBezTo>
                  <a:lnTo>
                    <a:pt x="4522721" y="2627756"/>
                  </a:lnTo>
                  <a:cubicBezTo>
                    <a:pt x="4522721" y="2641700"/>
                    <a:pt x="4511417" y="2653003"/>
                    <a:pt x="4497474" y="2653003"/>
                  </a:cubicBezTo>
                  <a:lnTo>
                    <a:pt x="25247" y="2653003"/>
                  </a:lnTo>
                  <a:cubicBezTo>
                    <a:pt x="18551" y="2653003"/>
                    <a:pt x="12129" y="2650343"/>
                    <a:pt x="7395" y="2645609"/>
                  </a:cubicBezTo>
                  <a:cubicBezTo>
                    <a:pt x="2660" y="2640874"/>
                    <a:pt x="0" y="2634452"/>
                    <a:pt x="0" y="2627756"/>
                  </a:cubicBezTo>
                  <a:lnTo>
                    <a:pt x="0" y="25247"/>
                  </a:lnTo>
                  <a:cubicBezTo>
                    <a:pt x="0" y="18551"/>
                    <a:pt x="2660" y="12129"/>
                    <a:pt x="7395" y="7395"/>
                  </a:cubicBezTo>
                  <a:cubicBezTo>
                    <a:pt x="12129" y="2660"/>
                    <a:pt x="18551" y="0"/>
                    <a:pt x="252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9000"/>
                  </a:srgbClr>
                </a:gs>
                <a:gs pos="100000">
                  <a:srgbClr val="DDDDDD">
                    <a:alpha val="1501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22721" cy="2719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72120" y="248284"/>
            <a:ext cx="4580706" cy="9790431"/>
          </a:xfrm>
          <a:custGeom>
            <a:avLst/>
            <a:gdLst/>
            <a:ahLst/>
            <a:cxnLst/>
            <a:rect r="r" b="b" t="t" l="l"/>
            <a:pathLst>
              <a:path h="9790431" w="4580706">
                <a:moveTo>
                  <a:pt x="0" y="0"/>
                </a:moveTo>
                <a:lnTo>
                  <a:pt x="4580706" y="0"/>
                </a:lnTo>
                <a:lnTo>
                  <a:pt x="4580706" y="9790432"/>
                </a:lnTo>
                <a:lnTo>
                  <a:pt x="0" y="9790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3" t="0" r="-23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0020" y="2813717"/>
            <a:ext cx="821556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Verificación de la restauración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7038" y="3074056"/>
            <a:ext cx="5021525" cy="521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04"/>
              </a:lnSpc>
              <a:spcBef>
                <a:spcPct val="0"/>
              </a:spcBef>
            </a:pPr>
            <a:r>
              <a:rPr lang="en-US" sz="287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✔️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4386" y="1866887"/>
            <a:ext cx="6975035" cy="7641057"/>
            <a:chOff x="0" y="0"/>
            <a:chExt cx="1837046" cy="2012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7046" cy="2012460"/>
            </a:xfrm>
            <a:custGeom>
              <a:avLst/>
              <a:gdLst/>
              <a:ahLst/>
              <a:cxnLst/>
              <a:rect r="r" b="b" t="t" l="l"/>
              <a:pathLst>
                <a:path h="2012460" w="1837046">
                  <a:moveTo>
                    <a:pt x="62157" y="0"/>
                  </a:moveTo>
                  <a:lnTo>
                    <a:pt x="1774889" y="0"/>
                  </a:lnTo>
                  <a:cubicBezTo>
                    <a:pt x="1791374" y="0"/>
                    <a:pt x="1807184" y="6549"/>
                    <a:pt x="1818841" y="18205"/>
                  </a:cubicBezTo>
                  <a:cubicBezTo>
                    <a:pt x="1830498" y="29862"/>
                    <a:pt x="1837046" y="45672"/>
                    <a:pt x="1837046" y="62157"/>
                  </a:cubicBezTo>
                  <a:lnTo>
                    <a:pt x="1837046" y="1950302"/>
                  </a:lnTo>
                  <a:cubicBezTo>
                    <a:pt x="1837046" y="1966788"/>
                    <a:pt x="1830498" y="1982597"/>
                    <a:pt x="1818841" y="1994254"/>
                  </a:cubicBezTo>
                  <a:cubicBezTo>
                    <a:pt x="1807184" y="2005911"/>
                    <a:pt x="1791374" y="2012460"/>
                    <a:pt x="1774889" y="2012460"/>
                  </a:cubicBezTo>
                  <a:lnTo>
                    <a:pt x="62157" y="2012460"/>
                  </a:lnTo>
                  <a:cubicBezTo>
                    <a:pt x="45672" y="2012460"/>
                    <a:pt x="29862" y="2005911"/>
                    <a:pt x="18205" y="1994254"/>
                  </a:cubicBezTo>
                  <a:cubicBezTo>
                    <a:pt x="6549" y="1982597"/>
                    <a:pt x="0" y="1966788"/>
                    <a:pt x="0" y="1950302"/>
                  </a:cubicBezTo>
                  <a:lnTo>
                    <a:pt x="0" y="62157"/>
                  </a:lnTo>
                  <a:cubicBezTo>
                    <a:pt x="0" y="45672"/>
                    <a:pt x="6549" y="29862"/>
                    <a:pt x="18205" y="18205"/>
                  </a:cubicBezTo>
                  <a:cubicBezTo>
                    <a:pt x="29862" y="6549"/>
                    <a:pt x="45672" y="0"/>
                    <a:pt x="621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37046" cy="2079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59291" y="447294"/>
            <a:ext cx="6725922" cy="9392412"/>
          </a:xfrm>
          <a:custGeom>
            <a:avLst/>
            <a:gdLst/>
            <a:ahLst/>
            <a:cxnLst/>
            <a:rect r="r" b="b" t="t" l="l"/>
            <a:pathLst>
              <a:path h="9392412" w="6725922">
                <a:moveTo>
                  <a:pt x="0" y="0"/>
                </a:moveTo>
                <a:lnTo>
                  <a:pt x="6725921" y="0"/>
                </a:lnTo>
                <a:lnTo>
                  <a:pt x="6725921" y="9392412"/>
                </a:lnTo>
                <a:lnTo>
                  <a:pt x="0" y="939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9358" y="475869"/>
            <a:ext cx="8099883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b="true" sz="6000" spc="-2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Análisis de rendimiento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1831" y="2508434"/>
            <a:ext cx="4020145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📊 Uso de EXPLAIN ANALYZE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676775" y="3641238"/>
            <a:ext cx="3250257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🔎 Consult</a:t>
            </a: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analizada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13484" y="4911816"/>
            <a:ext cx="6376839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</a:t>
            </a: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AIN ANALYZE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SELECT *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master.city ci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INNER JOIN master.country co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ci.countrycode = co.code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ci.population BETWEEN 1000 AND 5000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ORDER BY ci.id;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1420171"/>
            <a:ext cx="7145508" cy="8622007"/>
            <a:chOff x="0" y="0"/>
            <a:chExt cx="1881944" cy="2270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1944" cy="2270817"/>
            </a:xfrm>
            <a:custGeom>
              <a:avLst/>
              <a:gdLst/>
              <a:ahLst/>
              <a:cxnLst/>
              <a:rect r="r" b="b" t="t" l="l"/>
              <a:pathLst>
                <a:path h="2270817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2210143"/>
                  </a:lnTo>
                  <a:cubicBezTo>
                    <a:pt x="1881944" y="2226234"/>
                    <a:pt x="1875552" y="2241667"/>
                    <a:pt x="1864173" y="2253046"/>
                  </a:cubicBezTo>
                  <a:cubicBezTo>
                    <a:pt x="1852795" y="2264424"/>
                    <a:pt x="1837362" y="2270817"/>
                    <a:pt x="1821270" y="2270817"/>
                  </a:cubicBezTo>
                  <a:lnTo>
                    <a:pt x="60674" y="2270817"/>
                  </a:lnTo>
                  <a:cubicBezTo>
                    <a:pt x="27165" y="2270817"/>
                    <a:pt x="0" y="2243652"/>
                    <a:pt x="0" y="2210143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81944" cy="2337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51978" y="4695041"/>
            <a:ext cx="4649523" cy="5097905"/>
          </a:xfrm>
          <a:custGeom>
            <a:avLst/>
            <a:gdLst/>
            <a:ahLst/>
            <a:cxnLst/>
            <a:rect r="r" b="b" t="t" l="l"/>
            <a:pathLst>
              <a:path h="5097905" w="4649523">
                <a:moveTo>
                  <a:pt x="0" y="0"/>
                </a:moveTo>
                <a:lnTo>
                  <a:pt x="4649523" y="0"/>
                </a:lnTo>
                <a:lnTo>
                  <a:pt x="4649523" y="5097905"/>
                </a:lnTo>
                <a:lnTo>
                  <a:pt x="0" y="509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30329" y="299396"/>
            <a:ext cx="5136921" cy="6944598"/>
          </a:xfrm>
          <a:custGeom>
            <a:avLst/>
            <a:gdLst/>
            <a:ahLst/>
            <a:cxnLst/>
            <a:rect r="r" b="b" t="t" l="l"/>
            <a:pathLst>
              <a:path h="6944598" w="5136921">
                <a:moveTo>
                  <a:pt x="0" y="0"/>
                </a:moveTo>
                <a:lnTo>
                  <a:pt x="5136921" y="0"/>
                </a:lnTo>
                <a:lnTo>
                  <a:pt x="5136921" y="6944598"/>
                </a:lnTo>
                <a:lnTo>
                  <a:pt x="0" y="69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4" t="0" r="-198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13969" y="7702073"/>
            <a:ext cx="8261490" cy="1839390"/>
          </a:xfrm>
          <a:custGeom>
            <a:avLst/>
            <a:gdLst/>
            <a:ahLst/>
            <a:cxnLst/>
            <a:rect r="r" b="b" t="t" l="l"/>
            <a:pathLst>
              <a:path h="1839390" w="8261490">
                <a:moveTo>
                  <a:pt x="0" y="0"/>
                </a:moveTo>
                <a:lnTo>
                  <a:pt x="8261490" y="0"/>
                </a:lnTo>
                <a:lnTo>
                  <a:pt x="8261490" y="1839390"/>
                </a:lnTo>
                <a:lnTo>
                  <a:pt x="0" y="1839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3909" y="137471"/>
            <a:ext cx="5701208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-22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Mejora con Índices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9199" y="2040697"/>
            <a:ext cx="3035081" cy="204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2250" spc="-10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🛠️ Creación del índice</a:t>
            </a:r>
          </a:p>
          <a:p>
            <a:pPr algn="l">
              <a:lnSpc>
                <a:spcPts val="6642"/>
              </a:lnSpc>
            </a:pPr>
          </a:p>
          <a:p>
            <a:pPr algn="l">
              <a:lnSpc>
                <a:spcPts val="664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03986" y="2722442"/>
            <a:ext cx="714550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</a:t>
            </a: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ATE INDEX idx_city_population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master.city (population);</a:t>
            </a: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ANALYZE master.city;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3396" y="305861"/>
            <a:ext cx="5701208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-22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ANTES Y DESPUÉS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47949" y="1794850"/>
            <a:ext cx="5541909" cy="7738998"/>
          </a:xfrm>
          <a:custGeom>
            <a:avLst/>
            <a:gdLst/>
            <a:ahLst/>
            <a:cxnLst/>
            <a:rect r="r" b="b" t="t" l="l"/>
            <a:pathLst>
              <a:path h="7738998" w="5541909">
                <a:moveTo>
                  <a:pt x="0" y="0"/>
                </a:moveTo>
                <a:lnTo>
                  <a:pt x="5541909" y="0"/>
                </a:lnTo>
                <a:lnTo>
                  <a:pt x="5541909" y="7738997"/>
                </a:lnTo>
                <a:lnTo>
                  <a:pt x="0" y="7738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01875" y="1794850"/>
            <a:ext cx="5616833" cy="7593390"/>
          </a:xfrm>
          <a:custGeom>
            <a:avLst/>
            <a:gdLst/>
            <a:ahLst/>
            <a:cxnLst/>
            <a:rect r="r" b="b" t="t" l="l"/>
            <a:pathLst>
              <a:path h="7593390" w="5616833">
                <a:moveTo>
                  <a:pt x="0" y="0"/>
                </a:moveTo>
                <a:lnTo>
                  <a:pt x="5616833" y="0"/>
                </a:lnTo>
                <a:lnTo>
                  <a:pt x="5616833" y="7593389"/>
                </a:lnTo>
                <a:lnTo>
                  <a:pt x="0" y="7593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4" t="0" r="-1982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986" y="1894724"/>
            <a:ext cx="7145508" cy="7727240"/>
            <a:chOff x="0" y="0"/>
            <a:chExt cx="1881944" cy="2035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1944" cy="2035158"/>
            </a:xfrm>
            <a:custGeom>
              <a:avLst/>
              <a:gdLst/>
              <a:ahLst/>
              <a:cxnLst/>
              <a:rect r="r" b="b" t="t" l="l"/>
              <a:pathLst>
                <a:path h="20351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974484"/>
                  </a:lnTo>
                  <a:cubicBezTo>
                    <a:pt x="1881944" y="1990575"/>
                    <a:pt x="1875552" y="2006008"/>
                    <a:pt x="1864173" y="2017387"/>
                  </a:cubicBezTo>
                  <a:cubicBezTo>
                    <a:pt x="1852795" y="2028765"/>
                    <a:pt x="1837362" y="2035158"/>
                    <a:pt x="1821270" y="2035158"/>
                  </a:cubicBezTo>
                  <a:lnTo>
                    <a:pt x="60674" y="2035158"/>
                  </a:lnTo>
                  <a:cubicBezTo>
                    <a:pt x="27165" y="2035158"/>
                    <a:pt x="0" y="2007993"/>
                    <a:pt x="0" y="19744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81944" cy="210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2139717"/>
            <a:ext cx="5593679" cy="7237253"/>
          </a:xfrm>
          <a:custGeom>
            <a:avLst/>
            <a:gdLst/>
            <a:ahLst/>
            <a:cxnLst/>
            <a:rect r="r" b="b" t="t" l="l"/>
            <a:pathLst>
              <a:path h="7237253" w="5593679">
                <a:moveTo>
                  <a:pt x="0" y="0"/>
                </a:moveTo>
                <a:lnTo>
                  <a:pt x="5593679" y="0"/>
                </a:lnTo>
                <a:lnTo>
                  <a:pt x="5593679" y="7237253"/>
                </a:lnTo>
                <a:lnTo>
                  <a:pt x="0" y="72372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31551" y="335799"/>
            <a:ext cx="9660307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 spc="-22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Optimización física con CLUSTER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1457" y="2141038"/>
            <a:ext cx="5230564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🗂️ Reorganización física de la tabla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17182" y="2905260"/>
            <a:ext cx="2919115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🛠️ Pasos </a:t>
            </a:r>
            <a:r>
              <a:rPr lang="en-US" b="true" sz="2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realizados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9000" y="4520094"/>
            <a:ext cx="6695480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</a:t>
            </a: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ATE INDEX idx_city_id_cluster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master.city (id);</a:t>
            </a: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CLUSTER master.city USING idx_city_id_cluster;</a:t>
            </a: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ANALYZE master.city;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66073" y="2827184"/>
            <a:ext cx="5593679" cy="816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Sin CLUSTER: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id: 5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id: 1000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id: 2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id: 700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id: 3</a:t>
            </a: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CLUSTER por id: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1281" y="2076147"/>
            <a:ext cx="8294807" cy="7987255"/>
            <a:chOff x="0" y="0"/>
            <a:chExt cx="2184641" cy="21036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641" cy="2103639"/>
            </a:xfrm>
            <a:custGeom>
              <a:avLst/>
              <a:gdLst/>
              <a:ahLst/>
              <a:cxnLst/>
              <a:rect r="r" b="b" t="t" l="l"/>
              <a:pathLst>
                <a:path h="2103639" w="2184641">
                  <a:moveTo>
                    <a:pt x="52267" y="0"/>
                  </a:moveTo>
                  <a:lnTo>
                    <a:pt x="2132373" y="0"/>
                  </a:lnTo>
                  <a:cubicBezTo>
                    <a:pt x="2146235" y="0"/>
                    <a:pt x="2159530" y="5507"/>
                    <a:pt x="2169332" y="15309"/>
                  </a:cubicBezTo>
                  <a:cubicBezTo>
                    <a:pt x="2179134" y="25111"/>
                    <a:pt x="2184641" y="38405"/>
                    <a:pt x="2184641" y="52267"/>
                  </a:cubicBezTo>
                  <a:lnTo>
                    <a:pt x="2184641" y="2051372"/>
                  </a:lnTo>
                  <a:cubicBezTo>
                    <a:pt x="2184641" y="2065234"/>
                    <a:pt x="2179134" y="2078528"/>
                    <a:pt x="2169332" y="2088330"/>
                  </a:cubicBezTo>
                  <a:cubicBezTo>
                    <a:pt x="2159530" y="2098133"/>
                    <a:pt x="2146235" y="2103639"/>
                    <a:pt x="2132373" y="2103639"/>
                  </a:cubicBezTo>
                  <a:lnTo>
                    <a:pt x="52267" y="2103639"/>
                  </a:lnTo>
                  <a:cubicBezTo>
                    <a:pt x="38405" y="2103639"/>
                    <a:pt x="25111" y="2098133"/>
                    <a:pt x="15309" y="2088330"/>
                  </a:cubicBezTo>
                  <a:cubicBezTo>
                    <a:pt x="5507" y="2078528"/>
                    <a:pt x="0" y="2065234"/>
                    <a:pt x="0" y="2051372"/>
                  </a:cubicBezTo>
                  <a:lnTo>
                    <a:pt x="0" y="52267"/>
                  </a:lnTo>
                  <a:cubicBezTo>
                    <a:pt x="0" y="38405"/>
                    <a:pt x="5507" y="25111"/>
                    <a:pt x="15309" y="15309"/>
                  </a:cubicBezTo>
                  <a:cubicBezTo>
                    <a:pt x="25111" y="5507"/>
                    <a:pt x="38405" y="0"/>
                    <a:pt x="5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84641" cy="2170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35474" y="2417325"/>
            <a:ext cx="6775050" cy="7216901"/>
          </a:xfrm>
          <a:custGeom>
            <a:avLst/>
            <a:gdLst/>
            <a:ahLst/>
            <a:cxnLst/>
            <a:rect r="r" b="b" t="t" l="l"/>
            <a:pathLst>
              <a:path h="7216901" w="6775050">
                <a:moveTo>
                  <a:pt x="0" y="0"/>
                </a:moveTo>
                <a:lnTo>
                  <a:pt x="6775050" y="0"/>
                </a:lnTo>
                <a:lnTo>
                  <a:pt x="6775050" y="7216901"/>
                </a:lnTo>
                <a:lnTo>
                  <a:pt x="0" y="7216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84357" y="1219419"/>
            <a:ext cx="6119287" cy="222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5"/>
              </a:lnSpc>
            </a:pPr>
            <a:r>
              <a:rPr lang="en-US" b="true" sz="2250" spc="-1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💾 Eliminación de datos y tamaño en disco</a:t>
            </a:r>
          </a:p>
          <a:p>
            <a:pPr algn="just">
              <a:lnSpc>
                <a:spcPts val="7326"/>
              </a:lnSpc>
            </a:pPr>
          </a:p>
          <a:p>
            <a:pPr algn="just">
              <a:lnSpc>
                <a:spcPts val="732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555919" y="25400"/>
            <a:ext cx="9176162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 spc="-24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DELETE y gestión de espacio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76753" y="2350650"/>
            <a:ext cx="3558332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📏 M</a:t>
            </a:r>
            <a:r>
              <a:rPr lang="en-US" b="true" sz="2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edición del tamaño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02233" y="3800558"/>
            <a:ext cx="7332905" cy="194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3"/>
              </a:lnSpc>
            </a:pPr>
            <a:r>
              <a:rPr lang="en-US" sz="22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</a:p>
          <a:p>
            <a:pPr algn="ctr">
              <a:lnSpc>
                <a:spcPts val="3103"/>
              </a:lnSpc>
            </a:pPr>
            <a:r>
              <a:rPr lang="en-US" sz="22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2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g_size_pretty(pg_relation_size('master.city')) AS table_size,</a:t>
            </a:r>
          </a:p>
          <a:p>
            <a:pPr algn="ctr">
              <a:lnSpc>
                <a:spcPts val="3103"/>
              </a:lnSpc>
            </a:pPr>
            <a:r>
              <a:rPr lang="en-US" sz="22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pg_size_pretty(pg_total_relation_size('master.city')) AS total_size;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817" y="1149872"/>
            <a:ext cx="7345701" cy="7987255"/>
            <a:chOff x="0" y="0"/>
            <a:chExt cx="1934670" cy="21036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4670" cy="2103639"/>
            </a:xfrm>
            <a:custGeom>
              <a:avLst/>
              <a:gdLst/>
              <a:ahLst/>
              <a:cxnLst/>
              <a:rect r="r" b="b" t="t" l="l"/>
              <a:pathLst>
                <a:path h="2103639" w="1934670">
                  <a:moveTo>
                    <a:pt x="59021" y="0"/>
                  </a:moveTo>
                  <a:lnTo>
                    <a:pt x="1875650" y="0"/>
                  </a:lnTo>
                  <a:cubicBezTo>
                    <a:pt x="1908246" y="0"/>
                    <a:pt x="1934670" y="26424"/>
                    <a:pt x="1934670" y="59021"/>
                  </a:cubicBezTo>
                  <a:lnTo>
                    <a:pt x="1934670" y="2044619"/>
                  </a:lnTo>
                  <a:cubicBezTo>
                    <a:pt x="1934670" y="2077215"/>
                    <a:pt x="1908246" y="2103639"/>
                    <a:pt x="1875650" y="2103639"/>
                  </a:cubicBezTo>
                  <a:lnTo>
                    <a:pt x="59021" y="2103639"/>
                  </a:lnTo>
                  <a:cubicBezTo>
                    <a:pt x="26424" y="2103639"/>
                    <a:pt x="0" y="2077215"/>
                    <a:pt x="0" y="2044619"/>
                  </a:cubicBezTo>
                  <a:lnTo>
                    <a:pt x="0" y="59021"/>
                  </a:lnTo>
                  <a:cubicBezTo>
                    <a:pt x="0" y="26424"/>
                    <a:pt x="26424" y="0"/>
                    <a:pt x="59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34670" cy="2170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28498" y="1133021"/>
            <a:ext cx="3910409" cy="8020958"/>
          </a:xfrm>
          <a:custGeom>
            <a:avLst/>
            <a:gdLst/>
            <a:ahLst/>
            <a:cxnLst/>
            <a:rect r="r" b="b" t="t" l="l"/>
            <a:pathLst>
              <a:path h="8020958" w="3910409">
                <a:moveTo>
                  <a:pt x="0" y="0"/>
                </a:moveTo>
                <a:lnTo>
                  <a:pt x="3910410" y="0"/>
                </a:lnTo>
                <a:lnTo>
                  <a:pt x="3910410" y="8020958"/>
                </a:lnTo>
                <a:lnTo>
                  <a:pt x="0" y="8020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67537" y="2243034"/>
            <a:ext cx="5607567" cy="5800931"/>
          </a:xfrm>
          <a:custGeom>
            <a:avLst/>
            <a:gdLst/>
            <a:ahLst/>
            <a:cxnLst/>
            <a:rect r="r" b="b" t="t" l="l"/>
            <a:pathLst>
              <a:path h="5800931" w="5607567">
                <a:moveTo>
                  <a:pt x="0" y="0"/>
                </a:moveTo>
                <a:lnTo>
                  <a:pt x="5607566" y="0"/>
                </a:lnTo>
                <a:lnTo>
                  <a:pt x="5607566" y="5800932"/>
                </a:lnTo>
                <a:lnTo>
                  <a:pt x="0" y="5800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1541" y="2724268"/>
            <a:ext cx="4692253" cy="218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🗑️ Eliminación masiva de datos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77952" y="4455479"/>
            <a:ext cx="4639432" cy="280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 FROM mast</a:t>
            </a: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er.city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id NOT IN (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SELECT capital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FROM master.country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WHERE capital IS NOT NULL</a:t>
            </a:r>
          </a:p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ctr">
              <a:lnSpc>
                <a:spcPts val="3183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45111" y="1500177"/>
            <a:ext cx="5818166" cy="8157428"/>
          </a:xfrm>
          <a:custGeom>
            <a:avLst/>
            <a:gdLst/>
            <a:ahLst/>
            <a:cxnLst/>
            <a:rect r="r" b="b" t="t" l="l"/>
            <a:pathLst>
              <a:path h="8157428" w="5818166">
                <a:moveTo>
                  <a:pt x="0" y="0"/>
                </a:moveTo>
                <a:lnTo>
                  <a:pt x="5818165" y="0"/>
                </a:lnTo>
                <a:lnTo>
                  <a:pt x="5818165" y="8157428"/>
                </a:lnTo>
                <a:lnTo>
                  <a:pt x="0" y="8157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7283" y="3686492"/>
            <a:ext cx="8600971" cy="3336815"/>
            <a:chOff x="0" y="0"/>
            <a:chExt cx="2265276" cy="878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5276" cy="878832"/>
            </a:xfrm>
            <a:custGeom>
              <a:avLst/>
              <a:gdLst/>
              <a:ahLst/>
              <a:cxnLst/>
              <a:rect r="r" b="b" t="t" l="l"/>
              <a:pathLst>
                <a:path h="878832" w="2265276">
                  <a:moveTo>
                    <a:pt x="50407" y="0"/>
                  </a:moveTo>
                  <a:lnTo>
                    <a:pt x="2214869" y="0"/>
                  </a:lnTo>
                  <a:cubicBezTo>
                    <a:pt x="2242708" y="0"/>
                    <a:pt x="2265276" y="22568"/>
                    <a:pt x="2265276" y="50407"/>
                  </a:cubicBezTo>
                  <a:lnTo>
                    <a:pt x="2265276" y="828425"/>
                  </a:lnTo>
                  <a:cubicBezTo>
                    <a:pt x="2265276" y="856264"/>
                    <a:pt x="2242708" y="878832"/>
                    <a:pt x="2214869" y="878832"/>
                  </a:cubicBezTo>
                  <a:lnTo>
                    <a:pt x="50407" y="878832"/>
                  </a:lnTo>
                  <a:cubicBezTo>
                    <a:pt x="22568" y="878832"/>
                    <a:pt x="0" y="856264"/>
                    <a:pt x="0" y="828425"/>
                  </a:cubicBezTo>
                  <a:lnTo>
                    <a:pt x="0" y="50407"/>
                  </a:lnTo>
                  <a:cubicBezTo>
                    <a:pt x="0" y="22568"/>
                    <a:pt x="22568" y="0"/>
                    <a:pt x="504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265276" cy="945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19864" y="3619817"/>
            <a:ext cx="1764953" cy="311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269"/>
              </a:lnSpc>
            </a:pPr>
            <a:r>
              <a:rPr lang="en-US" sz="304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VACUUM</a:t>
            </a: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579093" y="107950"/>
            <a:ext cx="11129814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50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ACUUM y recuperación de espacio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9501" y="5124450"/>
            <a:ext cx="7937897" cy="54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9"/>
              </a:lnSpc>
            </a:pPr>
            <a:r>
              <a:rPr lang="en-US" sz="30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30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ACUUM (VERBOSE, ANALYZE) master.city;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964" y="1265676"/>
            <a:ext cx="8600971" cy="8648750"/>
            <a:chOff x="0" y="0"/>
            <a:chExt cx="2265276" cy="2277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5276" cy="2277860"/>
            </a:xfrm>
            <a:custGeom>
              <a:avLst/>
              <a:gdLst/>
              <a:ahLst/>
              <a:cxnLst/>
              <a:rect r="r" b="b" t="t" l="l"/>
              <a:pathLst>
                <a:path h="2277860" w="2265276">
                  <a:moveTo>
                    <a:pt x="50407" y="0"/>
                  </a:moveTo>
                  <a:lnTo>
                    <a:pt x="2214869" y="0"/>
                  </a:lnTo>
                  <a:cubicBezTo>
                    <a:pt x="2242708" y="0"/>
                    <a:pt x="2265276" y="22568"/>
                    <a:pt x="2265276" y="50407"/>
                  </a:cubicBezTo>
                  <a:lnTo>
                    <a:pt x="2265276" y="2227453"/>
                  </a:lnTo>
                  <a:cubicBezTo>
                    <a:pt x="2265276" y="2240822"/>
                    <a:pt x="2259966" y="2253643"/>
                    <a:pt x="2250512" y="2263096"/>
                  </a:cubicBezTo>
                  <a:cubicBezTo>
                    <a:pt x="2241059" y="2272549"/>
                    <a:pt x="2228238" y="2277860"/>
                    <a:pt x="2214869" y="2277860"/>
                  </a:cubicBezTo>
                  <a:lnTo>
                    <a:pt x="50407" y="2277860"/>
                  </a:lnTo>
                  <a:cubicBezTo>
                    <a:pt x="22568" y="2277860"/>
                    <a:pt x="0" y="2255292"/>
                    <a:pt x="0" y="2227453"/>
                  </a:cubicBezTo>
                  <a:lnTo>
                    <a:pt x="0" y="50407"/>
                  </a:lnTo>
                  <a:cubicBezTo>
                    <a:pt x="0" y="22568"/>
                    <a:pt x="22568" y="0"/>
                    <a:pt x="504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65276" cy="2344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51960" y="3569547"/>
            <a:ext cx="2872980" cy="5928370"/>
          </a:xfrm>
          <a:custGeom>
            <a:avLst/>
            <a:gdLst/>
            <a:ahLst/>
            <a:cxnLst/>
            <a:rect r="r" b="b" t="t" l="l"/>
            <a:pathLst>
              <a:path h="5928370" w="2872980">
                <a:moveTo>
                  <a:pt x="0" y="0"/>
                </a:moveTo>
                <a:lnTo>
                  <a:pt x="2872980" y="0"/>
                </a:lnTo>
                <a:lnTo>
                  <a:pt x="2872980" y="5928371"/>
                </a:lnTo>
                <a:lnTo>
                  <a:pt x="0" y="5928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07763" y="1463363"/>
            <a:ext cx="7889256" cy="8253375"/>
          </a:xfrm>
          <a:custGeom>
            <a:avLst/>
            <a:gdLst/>
            <a:ahLst/>
            <a:cxnLst/>
            <a:rect r="r" b="b" t="t" l="l"/>
            <a:pathLst>
              <a:path h="8253375" w="7889256">
                <a:moveTo>
                  <a:pt x="0" y="0"/>
                </a:moveTo>
                <a:lnTo>
                  <a:pt x="7889255" y="0"/>
                </a:lnTo>
                <a:lnTo>
                  <a:pt x="7889255" y="8253375"/>
                </a:lnTo>
                <a:lnTo>
                  <a:pt x="0" y="8253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7760" y="1199001"/>
            <a:ext cx="2701379" cy="311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269"/>
              </a:lnSpc>
            </a:pPr>
            <a:r>
              <a:rPr lang="en-US" sz="304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VACUUM FULL</a:t>
            </a: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314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79093" y="107950"/>
            <a:ext cx="11129814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50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ACUUM y recuperación de espacio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9689" y="2703634"/>
            <a:ext cx="4937522" cy="54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9"/>
              </a:lnSpc>
            </a:pPr>
            <a:r>
              <a:rPr lang="en-US" sz="30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30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ACUUM FULL master.city;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85929"/>
            <a:ext cx="7345337" cy="7695678"/>
            <a:chOff x="0" y="0"/>
            <a:chExt cx="1934574" cy="20268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4574" cy="2026845"/>
            </a:xfrm>
            <a:custGeom>
              <a:avLst/>
              <a:gdLst/>
              <a:ahLst/>
              <a:cxnLst/>
              <a:rect r="r" b="b" t="t" l="l"/>
              <a:pathLst>
                <a:path h="2026845" w="1934574">
                  <a:moveTo>
                    <a:pt x="59023" y="0"/>
                  </a:moveTo>
                  <a:lnTo>
                    <a:pt x="1875551" y="0"/>
                  </a:lnTo>
                  <a:cubicBezTo>
                    <a:pt x="1891205" y="0"/>
                    <a:pt x="1906218" y="6219"/>
                    <a:pt x="1917287" y="17288"/>
                  </a:cubicBezTo>
                  <a:cubicBezTo>
                    <a:pt x="1928356" y="28357"/>
                    <a:pt x="1934574" y="43369"/>
                    <a:pt x="1934574" y="59023"/>
                  </a:cubicBezTo>
                  <a:lnTo>
                    <a:pt x="1934574" y="1967822"/>
                  </a:lnTo>
                  <a:cubicBezTo>
                    <a:pt x="1934574" y="1983476"/>
                    <a:pt x="1928356" y="1998489"/>
                    <a:pt x="1917287" y="2009558"/>
                  </a:cubicBezTo>
                  <a:cubicBezTo>
                    <a:pt x="1906218" y="2020627"/>
                    <a:pt x="1891205" y="2026845"/>
                    <a:pt x="1875551" y="2026845"/>
                  </a:cubicBezTo>
                  <a:lnTo>
                    <a:pt x="59023" y="2026845"/>
                  </a:lnTo>
                  <a:cubicBezTo>
                    <a:pt x="43369" y="2026845"/>
                    <a:pt x="28357" y="2020627"/>
                    <a:pt x="17288" y="2009558"/>
                  </a:cubicBezTo>
                  <a:cubicBezTo>
                    <a:pt x="6219" y="1998489"/>
                    <a:pt x="0" y="1983476"/>
                    <a:pt x="0" y="1967822"/>
                  </a:cubicBezTo>
                  <a:lnTo>
                    <a:pt x="0" y="59023"/>
                  </a:lnTo>
                  <a:cubicBezTo>
                    <a:pt x="0" y="43369"/>
                    <a:pt x="6219" y="28357"/>
                    <a:pt x="17288" y="17288"/>
                  </a:cubicBezTo>
                  <a:cubicBezTo>
                    <a:pt x="28357" y="6219"/>
                    <a:pt x="43369" y="0"/>
                    <a:pt x="590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34574" cy="209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39794" y="487363"/>
            <a:ext cx="4208413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89853" y="857912"/>
            <a:ext cx="7961921" cy="1294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23"/>
              </a:lnSpc>
            </a:pPr>
            <a:r>
              <a:rPr lang="en-US" sz="4565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🎯</a:t>
            </a:r>
          </a:p>
          <a:p>
            <a:pPr algn="ctr">
              <a:lnSpc>
                <a:spcPts val="16831"/>
              </a:lnSpc>
            </a:pPr>
          </a:p>
          <a:p>
            <a:pPr algn="ctr">
              <a:lnSpc>
                <a:spcPts val="168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44340" y="3302087"/>
            <a:ext cx="5295454" cy="519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📌 Principales conclusiones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🔎 EXPL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AIN ANALYZE 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🚀 Los índices 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🗂️ CLUSTER 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⚠️ Un DELETE 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🧹 VACUUM 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💾 VACUUM FULL 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901" y="3577917"/>
            <a:ext cx="16565399" cy="494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🙌 Muchas gracias.</a:t>
            </a:r>
          </a:p>
          <a:p>
            <a:pPr algn="ctr">
              <a:lnSpc>
                <a:spcPts val="193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DAHCDHAgwZs</dc:identifier>
  <dcterms:modified xsi:type="dcterms:W3CDTF">2011-08-01T06:04:30Z</dcterms:modified>
  <cp:revision>1</cp:revision>
  <dc:title>Presentación Mantenimiento</dc:title>
</cp:coreProperties>
</file>